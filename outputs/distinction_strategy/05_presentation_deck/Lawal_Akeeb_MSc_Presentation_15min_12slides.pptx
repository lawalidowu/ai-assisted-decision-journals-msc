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Open with the claim. Show freeze banner. Do not preview every result.
Transition: Why is that distinction necessary?
If late: skip chips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Agreements sit beside questions, procedure and narrative.
Transition: So what did this project set out to do?
If late: one sentence on mixed speech 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Read the exact aim. State the main question.
No numbered RQs in Chapter 1 — Aim + Objectives 1–6.
If late: aim + question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Walk left to right once. Pause on frozen reference dataset.
Transition: How was that evaluated?
If late: emphasize separate colours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List lenses quickly. Explicit: no single F1.
Transition: Headline findings next.
Removed in 10-minute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Lead with 351/414 and 21/50. Then κ and faithfulness.
10-min: one line — layered eval, no single F1.
If late: only 414, 351/414, 21/50, κ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Read candidate and quote. A=No, B=High, procedural.
Pause after teaching line.
Optional ≤2 min demo only if ahead of time.
If late: teaching line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20–25s per card. Warn that JEE/DQ are interpretive.
Removed in 10-minute deck.
If late: name IDs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Stress governed review process.
Transition: Boundaries of the claim…
If late: methodology + governance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Own each limit in one breath. No defensiveness.
In 10-min deck limits fold into close.
If late: case / model / reviewer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Keep under 45s. Not a product roadmap.
Removed in 10-minute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Deliver close nearly verbatim. Stop. Hand over to examiners.
10-min: speak key limitations briefly before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Generated text is not authoritative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256032"/>
            <a:ext cx="3931920" cy="347472"/>
          </a:xfrm>
          <a:prstGeom prst="roundRect">
            <a:avLst>
              <a:gd name="adj" fmla="val 8000"/>
            </a:avLst>
          </a:prstGeom>
          <a:solidFill>
            <a:srgbClr val="FFF6D8"/>
          </a:solidFill>
          <a:ln>
            <a:solidFill>
              <a:srgbClr val="FFF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A4710"/>
                </a:solidFill>
                <a:latin typeface="Calibri"/>
              </a:rPr>
              <a:t>Frozen research artefact — no live model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>
                <a:solidFill>
                  <a:srgbClr val="182028"/>
                </a:solidFill>
                <a:latin typeface="Calibri"/>
              </a:rPr>
              <a:t>This talk evaluates a governed workflow that keeps machine candidates, automated checks, human validation and source evidence visibly separate — not a deployed decision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10896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Machine candidate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310896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E6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F5C4C"/>
                </a:solidFill>
                <a:latin typeface="Calibri"/>
              </a:rPr>
              <a:t>Automated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10896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E4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4D6D"/>
                </a:solidFill>
                <a:latin typeface="Calibri"/>
              </a:rPr>
              <a:t>Human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310896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EEEAF4"/>
          </a:solidFill>
          <a:ln>
            <a:solidFill>
              <a:srgbClr val="EE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D3550"/>
                </a:solidFill>
                <a:latin typeface="Calibri"/>
              </a:rPr>
              <a:t>Source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31920"/>
            <a:ext cx="11338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EEEM004 viva presentation · UK COVID-19 Inquiry Module 2 case study
Not live, not deployed, not automatically authoritative.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937760"/>
            <a:ext cx="11338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82028"/>
                </a:solidFill>
                <a:latin typeface="Calibri"/>
              </a:rPr>
              <a:t>Main question: Can an LLM-assisted workflow produce useful, auditable candidates without treating generated text as authoritative evidence?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EEEM004 viva · frozen research artefact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Inquiry transcripts hide decisions in long, mixed discourse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Public inquiry text holds decision evidence that is lengthy, dispersed and easy to mis-extract as if authoritative.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A4D6D"/>
                </a:solidFill>
                <a:latin typeface="Calibri"/>
              </a:rPr>
              <a:t>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8288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0F5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5C4C"/>
                </a:solidFill>
                <a:latin typeface="Calibri"/>
              </a:rPr>
              <a:t>Procedure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8288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4E79"/>
                </a:solidFill>
                <a:latin typeface="Calibri"/>
              </a:rPr>
              <a:t>Measure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8288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EEEAF4"/>
          </a:solidFill>
          <a:ln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D3550"/>
                </a:solidFill>
                <a:latin typeface="Calibri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Agreements sit beside questions and procedure.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“Decision” language is mixed and dispersed.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Naïve LLM summaries can look authoritative.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Dissertation Ch1 §§1.1–1.2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Aim: traceable candidates under human oversight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1691640"/>
          </a:xfrm>
          <a:prstGeom prst="rect">
            <a:avLst/>
          </a:prstGeom>
          <a:solidFill>
            <a:srgbClr val="EEEAF4"/>
          </a:solidFill>
          <a:ln w="15875"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3550"/>
                </a:solidFill>
                <a:latin typeface="Calibri"/>
              </a:rPr>
              <a:t>Exact dissertation 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To design and evaluate an LLM-assisted method for creating traceable candidate decision-journal entries from complex public records, using UK COVID-19 Inquiry Module 2 transcripts as a case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26080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Presentation question: Can an LLM-assisted workflow produce useful, auditable decision-journal candidates from public inquiry transcripts without treating generated text as authoritative evidence?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74903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1 Develop source-linked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74903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2 Evaluate on eight hearings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74903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3 Freeze 414-candidate journal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38911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4 Validate n=50 validity/strength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38911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5 Organise + n=60 interpret/faithfulness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38911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6 Examine limits and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12080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No numbered research questions in Chapter 1 — Aim + Objectives 1–6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Ch1 §1.3 exact aim (no numbered RQs)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Generation, checks, human review and source stay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Later stages do not retrospectively turn machine-generated text into authoritative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EEAF4"/>
          </a:solidFill>
          <a:ln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D3550"/>
                </a:solidFill>
                <a:latin typeface="Calibri"/>
              </a:rPr>
              <a:t>Public inquiry source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authoritative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0F5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5C4C"/>
                </a:solidFill>
                <a:latin typeface="Calibri"/>
              </a:rPr>
              <a:t>Source processing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processing / automated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LLM candidate generation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machine generation / freeze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7176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0F5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5C4C"/>
                </a:solidFill>
                <a:latin typeface="Calibri"/>
              </a:rPr>
              <a:t>Automated traceability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processing / automated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9672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Frozen reference dataset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machine generation / freeze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4D6D"/>
                </a:solidFill>
                <a:latin typeface="Calibri"/>
              </a:rPr>
              <a:t>Human review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human judgement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3768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4D6D"/>
                </a:solidFill>
                <a:latin typeface="Calibri"/>
              </a:rPr>
              <a:t>Framework interpretation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human judgement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97680"/>
            <a:ext cx="11338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82028"/>
                </a:solidFill>
                <a:latin typeface="Calibri"/>
              </a:rPr>
              <a:t>Machine generation does not become authoritative because later checks exist.
Research prototype — not production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577840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EEAF4"/>
          </a:solidFill>
          <a:ln>
            <a:solidFill>
              <a:srgbClr val="EE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D3550"/>
                </a:solidFill>
                <a:latin typeface="Calibri"/>
              </a:rPr>
              <a:t>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5577840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Machine / frozen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5577840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E6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5C4C"/>
                </a:solidFill>
                <a:latin typeface="Calibri"/>
              </a:rPr>
              <a:t>Automated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5577840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E4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4D6D"/>
                </a:solidFill>
                <a:latin typeface="Calibri"/>
              </a:rPr>
              <a:t>Human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Ch3 methods · Wave 4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Evaluation is layered, not a single accuracy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Bounded lenses answer different questions — none alone is “system accuracy”.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2028"/>
                </a:solidFill>
                <a:latin typeface="Calibri"/>
              </a:rPr>
              <a:t>6 manuals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2880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2028"/>
                </a:solidFill>
                <a:latin typeface="Calibri"/>
              </a:rPr>
              <a:t>n=42 taxonomy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2028"/>
                </a:solidFill>
                <a:latin typeface="Calibri"/>
              </a:rPr>
              <a:t>n=50 stratified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82880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2028"/>
                </a:solidFill>
                <a:latin typeface="Calibri"/>
              </a:rPr>
              <a:t>confidence 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88036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2028"/>
                </a:solidFill>
                <a:latin typeface="Calibri"/>
              </a:rPr>
              <a:t>20 clusters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88036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2028"/>
                </a:solidFill>
                <a:latin typeface="Calibri"/>
              </a:rPr>
              <a:t>n=60 JEE/DQ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88036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2028"/>
                </a:solidFill>
                <a:latin typeface="Calibri"/>
              </a:rPr>
              <a:t>faithfulness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88036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2028"/>
                </a:solidFill>
                <a:latin typeface="Calibri"/>
              </a:rPr>
              <a:t>50/53 · 49/50 pilots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572000"/>
            <a:ext cx="11338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82028"/>
                </a:solidFill>
                <a:latin typeface="Calibri"/>
              </a:rPr>
              <a:t>Different constructs answer different questions.
Do not collapse the portfolio into one accuracy percentage.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Examiner evidence map · Ch3–Ch4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Traceable candidates are common; journal-ready ones are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Pass rates ≠ acceptance. no × high and moderate κ matter more than volume.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65760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Scale &amp; 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414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351/414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traceability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1/6 vs 5/6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177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keyword vs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365760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Validity ≠ evidence 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21/50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1460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no ×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10896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0.48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566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rule κ vs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6052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0.39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177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LLM κ vs 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417320"/>
            <a:ext cx="365760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Framework &amp; faithfulness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05740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11/60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1460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JEE mapped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10896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37/60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566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DQ mapped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16052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8/25/20/7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6177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faithfulness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897880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0"/>
                </a:solidFill>
                <a:latin typeface="Calibri"/>
              </a:rPr>
              <a:t>Candidates are not accepted decisions.  ·  Supporting: 5/10/0 triangulation · 20 clusters · 50/53 · 49/50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Frozen journal · n=50 · Audit E n=60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Quote support ≠ journal membership (phase1-082)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5532120" cy="2286000"/>
          </a:xfrm>
          <a:prstGeom prst="rect">
            <a:avLst/>
          </a:prstGeom>
          <a:solidFill>
            <a:srgbClr val="EEEAF4"/>
          </a:solidFill>
          <a:ln w="15875"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3550"/>
                </a:solidFill>
                <a:latin typeface="Calibri"/>
              </a:rPr>
              <a:t>SOURCE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1206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82028"/>
                </a:solidFill>
                <a:latin typeface="Calibri"/>
              </a:rPr>
              <a:t>The hearing adjourned until 10 am on Friday, 1 December 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051560"/>
            <a:ext cx="5486400" cy="2286000"/>
          </a:xfrm>
          <a:prstGeom prst="rect">
            <a:avLst/>
          </a:prstGeom>
          <a:solidFill>
            <a:srgbClr val="E8EEF6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4300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FROZEN LLM 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1206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82028"/>
                </a:solidFill>
                <a:latin typeface="Calibri"/>
              </a:rPr>
              <a:t>The hearing will resume at 10 o'clock tomorrow.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56616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E6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5C4C"/>
                </a:solidFill>
                <a:latin typeface="Calibri"/>
              </a:rPr>
              <a:t>Traceability: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Rubric B = HIGH  (supported wording)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56616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8E8E8"/>
          </a:solidFill>
          <a:ln>
            <a:solidFill>
              <a:srgbClr val="F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A1F1F"/>
                </a:solidFill>
                <a:latin typeface="Calibri"/>
              </a:rPr>
              <a:t>Rubric A = NO  (not journal-valid)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34840"/>
            <a:ext cx="11338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Flag: procedural hearing administration  ·  ID phase1-082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937760"/>
            <a:ext cx="11338560" cy="1051560"/>
          </a:xfrm>
          <a:prstGeom prst="rect">
            <a:avLst/>
          </a:prstGeom>
          <a:solidFill>
            <a:srgbClr val="FFF6D8"/>
          </a:solidFill>
          <a:ln w="15875">
            <a:solidFill>
              <a:srgbClr val="5A4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10881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5A4710"/>
                </a:solidFill>
                <a:latin typeface="Calibri"/>
              </a:rPr>
              <a:t>Quotation support does not by itself establish decision-journal validity.
Supported wording  ≠  valid journal entry.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Case phase1-082 · n=50 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Alignment, faithfulness failure and interpretive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Three verified contrasts; detail remains in the offline demo if requested.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365760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4D6D"/>
                </a:solidFill>
                <a:latin typeface="Calibri"/>
              </a:rPr>
              <a:t>phase1-016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82028"/>
                </a:solidFill>
                <a:latin typeface="Calibri"/>
              </a:rPr>
              <a:t>Yes ×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Traceability and journal validity can align.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371600"/>
            <a:ext cx="365760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4D6D"/>
                </a:solidFill>
                <a:latin typeface="Calibri"/>
              </a:rPr>
              <a:t>phase1-090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82028"/>
                </a:solidFill>
                <a:latin typeface="Calibri"/>
              </a:rPr>
              <a:t>Materially unsupported / altered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26080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Source availability ≠ preserved meaning.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365760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5448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4D6D"/>
                </a:solidFill>
                <a:latin typeface="Calibri"/>
              </a:rPr>
              <a:t>phase1-246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82028"/>
                </a:solidFill>
                <a:latin typeface="Calibri"/>
              </a:rPr>
              <a:t>JEE P3 + DQ commitment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926080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Framework labels are interpretive aids after validation — not performance praise.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669280"/>
            <a:ext cx="11338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Framework mapping is not a judgement that performance was good.  Use offline demo for full passages.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Wave 4 demo cases 016 · 090 · 246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Contribution is governance of the AI–source–human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Not a new SOTA extraction algorithm — a governed review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5440680" cy="2011680"/>
          </a:xfrm>
          <a:prstGeom prst="rect">
            <a:avLst/>
          </a:prstGeom>
          <a:solidFill>
            <a:srgbClr val="E8EEF6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Methodological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49377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Link candidates to sources; separate validity, strength and faithfulness.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440680" cy="2011680"/>
          </a:xfrm>
          <a:prstGeom prst="rect">
            <a:avLst/>
          </a:prstGeom>
          <a:solidFill>
            <a:srgbClr val="E6F3EF"/>
          </a:solidFill>
          <a:ln w="15875">
            <a:solidFill>
              <a:srgbClr val="0F5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5C4C"/>
                </a:solidFill>
                <a:latin typeface="Calibri"/>
              </a:rPr>
              <a:t>Artefact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9377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Fixed 414-entry journal plus offline examiner demonstration.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657600"/>
            <a:ext cx="5440680" cy="2011680"/>
          </a:xfrm>
          <a:prstGeom prst="rect">
            <a:avLst/>
          </a:prstGeom>
          <a:solidFill>
            <a:srgbClr val="E4EEF4"/>
          </a:solidFill>
          <a:ln w="15875"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4D6D"/>
                </a:solidFill>
                <a:latin typeface="Calibri"/>
              </a:rPr>
              <a:t>Empirical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49377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Bounded n=414 / n=50 / n=60 feasibility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657600"/>
            <a:ext cx="5440680" cy="2011680"/>
          </a:xfrm>
          <a:prstGeom prst="rect">
            <a:avLst/>
          </a:prstGeom>
          <a:solidFill>
            <a:srgbClr val="EEEAF4"/>
          </a:solidFill>
          <a:ln w="15875"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3D3550"/>
                </a:solidFill>
                <a:latin typeface="Calibri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49377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Keep machine, automated, human and source layers inspectable.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Ch1 §1.6 · Ch5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Claims stay bounded to one case, one model, one reviewer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Feasibility evidence, not general policy truth or deployment readiness.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C5C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760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82028"/>
                </a:solidFill>
                <a:latin typeface="Calibri"/>
              </a:rPr>
              <a:t>One UK COVID-19 Inquiry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44168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→ External validity untested.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39112"/>
            <a:ext cx="113385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C5C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760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82028"/>
                </a:solidFill>
                <a:latin typeface="Calibri"/>
              </a:rPr>
              <a:t>One main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→ Results are model-conditioned.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43784"/>
            <a:ext cx="113385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C5C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53512"/>
            <a:ext cx="5760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82028"/>
                </a:solidFill>
                <a:latin typeface="Calibri"/>
              </a:rPr>
              <a:t>Single-reviewer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53512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→ No inter-rater κ.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48456"/>
            <a:ext cx="113385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C5C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58184"/>
            <a:ext cx="5760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82028"/>
                </a:solidFill>
                <a:latin typeface="Calibri"/>
              </a:rPr>
              <a:t>Frozen historical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58184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→ Live regen is not byte-identical.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53128"/>
            <a:ext cx="113385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C5C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62856"/>
            <a:ext cx="5760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82028"/>
                </a:solidFill>
                <a:latin typeface="Calibri"/>
              </a:rPr>
              <a:t>Moderate agreement (κ 0.48 / 0.39)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62856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→ Cannot replace human judgement.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257800"/>
            <a:ext cx="113385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C5C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367528"/>
            <a:ext cx="5760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82028"/>
                </a:solidFill>
                <a:latin typeface="Calibri"/>
              </a:rPr>
              <a:t>Framework mappings are interpretive aids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67528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→ Not official WHO/DQ audits.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Ch1.4 · Ch5 · reproducibility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Next steps are replication and multi-reviewer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Extend evaluation governance — not “add a chatbot and deploy”.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6304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• Independent multi-reviewer validation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• Cross-inquiry replication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• Model comparison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• Domain-specific calibration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• Controlled deployment and access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577840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Not a deployment commitment.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Ch5 future / scaling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Make the route from source to interpretation inspectable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11338560" cy="2377440"/>
          </a:xfrm>
          <a:prstGeom prst="rect">
            <a:avLst/>
          </a:prstGeom>
          <a:solidFill>
            <a:srgbClr val="EEEAF4"/>
          </a:solidFill>
          <a:ln w="15875"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813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82028"/>
                </a:solidFill>
                <a:latin typeface="Calibri"/>
              </a:rPr>
              <a:t>The system does not replace authoritative inquiry evidence or human policy judgement. It makes the route from source evidence to machine-generated candidate and human interpretation inspectable and auditable.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0"/>
            <a:ext cx="11338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Questions
Presentation complete without live demo · optional offline walkthrough ≤2 min after the centrepiece only if time remains.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Closing · ready for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