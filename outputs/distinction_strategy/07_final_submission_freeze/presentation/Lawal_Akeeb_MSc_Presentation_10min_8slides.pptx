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82028"/>
                </a:solidFill>
                <a:latin typeface="Calibri"/>
              </a:rPr>
              <a:t>Open with the claim. Show freeze banner. Do not preview every result.
Transition: Why is that distinction necessary?
If late: skip chips narration.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82028"/>
                </a:solidFill>
                <a:latin typeface="Calibri"/>
              </a:rPr>
              <a:t>Agreements sit beside questions, procedure and narrative.
Transition: So what did this project set out to do?
If late: one sentence on mixed speech 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82028"/>
                </a:solidFill>
                <a:latin typeface="Calibri"/>
              </a:rPr>
              <a:t>Read the exact aim. State the main question.
No numbered RQs in Chapter 1 — Aim + Objectives 1–6.
If late: aim + question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82028"/>
                </a:solidFill>
                <a:latin typeface="Calibri"/>
              </a:rPr>
              <a:t>Walk left to right once. Pause on frozen reference dataset.
Transition: How was that evaluated?
If late: emphasize separate colours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82028"/>
                </a:solidFill>
                <a:latin typeface="Calibri"/>
              </a:rPr>
              <a:t>Lead with 351/414 and 21/50. Then κ and faithfulness.
10-min: one line — layered eval, no single F1.
If late: only 414, 351/414, 21/50, κ pair.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82028"/>
                </a:solidFill>
                <a:latin typeface="Calibri"/>
              </a:rPr>
              <a:t>Read candidate and quote. A=No, B=High, procedural.
Pause after teaching line.
Optional ≤2 min demo only if ahead of time.
If late: teaching line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82028"/>
                </a:solidFill>
                <a:latin typeface="Calibri"/>
              </a:rPr>
              <a:t>Stress governed review process.
Transition: Boundaries of the claim…
If late: methodology + governance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82028"/>
                </a:solidFill>
                <a:latin typeface="Calibri"/>
              </a:rPr>
              <a:t>Speak limitations briefly, then deliver close.
Deliver close nearly verbatim. Stop. Hand over to examiners.
10-min: speak key limitations briefly before the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182028"/>
                </a:solidFill>
                <a:latin typeface="Calibri"/>
              </a:rPr>
              <a:t>Generated text is not authoritative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63840" y="256032"/>
            <a:ext cx="3931920" cy="347472"/>
          </a:xfrm>
          <a:prstGeom prst="roundRect">
            <a:avLst>
              <a:gd name="adj" fmla="val 8000"/>
            </a:avLst>
          </a:prstGeom>
          <a:solidFill>
            <a:srgbClr val="FFF6D8"/>
          </a:solidFill>
          <a:ln>
            <a:solidFill>
              <a:srgbClr val="FFF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5A4710"/>
                </a:solidFill>
                <a:latin typeface="Calibri"/>
              </a:rPr>
              <a:t>Frozen research artefact — no live model 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>
                <a:solidFill>
                  <a:srgbClr val="182028"/>
                </a:solidFill>
                <a:latin typeface="Calibri"/>
              </a:rPr>
              <a:t>This talk evaluates a governed workflow that keeps machine candidates, automated checks, human validation and source evidence visibly separate — not a deployed decision engine.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10896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E8EEF6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Machine candidate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310896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E6F3EF"/>
          </a:solidFill>
          <a:ln>
            <a:solidFill>
              <a:srgbClr val="E6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F5C4C"/>
                </a:solidFill>
                <a:latin typeface="Calibri"/>
              </a:rPr>
              <a:t>Automated check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310896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E4EEF4"/>
          </a:solidFill>
          <a:ln>
            <a:solidFill>
              <a:srgbClr val="E4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4D6D"/>
                </a:solidFill>
                <a:latin typeface="Calibri"/>
              </a:rPr>
              <a:t>Human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310896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EEEAF4"/>
          </a:solidFill>
          <a:ln>
            <a:solidFill>
              <a:srgbClr val="EE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D3550"/>
                </a:solidFill>
                <a:latin typeface="Calibri"/>
              </a:rPr>
              <a:t>Source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931920"/>
            <a:ext cx="113385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4A5560"/>
                </a:solidFill>
                <a:latin typeface="Calibri"/>
              </a:rPr>
              <a:t>EEEM004 viva presentation · UK COVID-19 Inquiry Module 2 case study
Not live, not deployed, not automatically authoritative.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937760"/>
            <a:ext cx="113385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82028"/>
                </a:solidFill>
                <a:latin typeface="Calibri"/>
              </a:rPr>
              <a:t>Main question: Can an LLM-assisted workflow produce useful, auditable candidates without treating generated text as authoritative evidence?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37960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0"/>
                </a:solidFill>
                <a:latin typeface="Calibri"/>
              </a:rPr>
              <a:t>AI-assisted decision journaling  ·  EEEM004 viva · frozen research artefact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6537960"/>
            <a:ext cx="2103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4A5560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182028"/>
                </a:solidFill>
                <a:latin typeface="Calibri"/>
              </a:rPr>
              <a:t>Inquiry transcripts hide decisions in long, mixed discourse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4A5560"/>
                </a:solidFill>
                <a:latin typeface="Calibri"/>
              </a:rPr>
              <a:t>Public inquiry text holds decision evidence that is lengthy, dispersed and easy to mis-extract as if authoritative.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2606040" cy="1097280"/>
          </a:xfrm>
          <a:prstGeom prst="roundRect">
            <a:avLst>
              <a:gd name="adj" fmla="val 8000"/>
            </a:avLst>
          </a:prstGeom>
          <a:solidFill>
            <a:srgbClr val="E4EEF4"/>
          </a:solidFill>
          <a:ln>
            <a:solidFill>
              <a:srgbClr val="1A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A4D6D"/>
                </a:solidFill>
                <a:latin typeface="Calibri"/>
              </a:rPr>
              <a:t>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828800"/>
            <a:ext cx="2606040" cy="1097280"/>
          </a:xfrm>
          <a:prstGeom prst="roundRect">
            <a:avLst>
              <a:gd name="adj" fmla="val 8000"/>
            </a:avLst>
          </a:prstGeom>
          <a:solidFill>
            <a:srgbClr val="E6F3EF"/>
          </a:solidFill>
          <a:ln>
            <a:solidFill>
              <a:srgbClr val="0F5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F5C4C"/>
                </a:solidFill>
                <a:latin typeface="Calibri"/>
              </a:rPr>
              <a:t>Procedure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828800"/>
            <a:ext cx="2606040" cy="1097280"/>
          </a:xfrm>
          <a:prstGeom prst="roundRect">
            <a:avLst>
              <a:gd name="adj" fmla="val 8000"/>
            </a:avLst>
          </a:prstGeom>
          <a:solidFill>
            <a:srgbClr val="E8EEF6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F4E79"/>
                </a:solidFill>
                <a:latin typeface="Calibri"/>
              </a:rPr>
              <a:t>Measure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1828800"/>
            <a:ext cx="2606040" cy="1097280"/>
          </a:xfrm>
          <a:prstGeom prst="roundRect">
            <a:avLst>
              <a:gd name="adj" fmla="val 8000"/>
            </a:avLst>
          </a:prstGeom>
          <a:solidFill>
            <a:srgbClr val="EEEAF4"/>
          </a:solidFill>
          <a:ln>
            <a:solidFill>
              <a:srgbClr val="3D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3D3550"/>
                </a:solidFill>
                <a:latin typeface="Calibri"/>
              </a:rPr>
              <a:t>Recall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91840"/>
            <a:ext cx="11338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182028"/>
                </a:solidFill>
                <a:latin typeface="Calibri"/>
              </a:rPr>
              <a:t>Agreements sit beside questions and procedure.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82028"/>
                </a:solidFill>
                <a:latin typeface="Calibri"/>
              </a:rPr>
              <a:t>“Decision” language is mixed and dispersed.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82028"/>
                </a:solidFill>
                <a:latin typeface="Calibri"/>
              </a:rPr>
              <a:t>Naïve LLM summaries can look authoritative.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37960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0"/>
                </a:solidFill>
                <a:latin typeface="Calibri"/>
              </a:rPr>
              <a:t>AI-assisted decision journaling  ·  Dissertation Ch1 §§1.1–1.2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6537960"/>
            <a:ext cx="2103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4A5560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182028"/>
                </a:solidFill>
                <a:latin typeface="Calibri"/>
              </a:rPr>
              <a:t>Aim: traceable candidates under human oversight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11338560" cy="1691640"/>
          </a:xfrm>
          <a:prstGeom prst="rect">
            <a:avLst/>
          </a:prstGeom>
          <a:solidFill>
            <a:srgbClr val="EEEAF4"/>
          </a:solidFill>
          <a:ln w="15875">
            <a:solidFill>
              <a:srgbClr val="3D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3D3550"/>
                </a:solidFill>
                <a:latin typeface="Calibri"/>
              </a:rPr>
              <a:t>Exact dissertation 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1097280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82028"/>
                </a:solidFill>
                <a:latin typeface="Calibri"/>
              </a:rPr>
              <a:t>To design and evaluate an LLM-assisted method for creating traceable candidate decision-journal entries from complex public records, using UK COVID-19 Inquiry Module 2 transcripts as a case study.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926080"/>
            <a:ext cx="11338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4A5560"/>
                </a:solidFill>
                <a:latin typeface="Calibri"/>
              </a:rPr>
              <a:t>Presentation question: Can an LLM-assisted workflow produce useful, auditable decision-journal candidates from public inquiry transcripts without treating generated text as authoritative evidence?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749039"/>
            <a:ext cx="36576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82028"/>
                </a:solidFill>
                <a:latin typeface="Calibri"/>
              </a:rPr>
              <a:t>1 Develop source-linked extraction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3749039"/>
            <a:ext cx="36576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82028"/>
                </a:solidFill>
                <a:latin typeface="Calibri"/>
              </a:rPr>
              <a:t>2 Evaluate on eight hearings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3749039"/>
            <a:ext cx="36576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82028"/>
                </a:solidFill>
                <a:latin typeface="Calibri"/>
              </a:rPr>
              <a:t>3 Freeze 414-candidate journal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389119"/>
            <a:ext cx="36576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82028"/>
                </a:solidFill>
                <a:latin typeface="Calibri"/>
              </a:rPr>
              <a:t>4 Validate n=50 validity/strength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4389119"/>
            <a:ext cx="36576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82028"/>
                </a:solidFill>
                <a:latin typeface="Calibri"/>
              </a:rPr>
              <a:t>5 Organise + n=60 interpret/faithfulness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4389119"/>
            <a:ext cx="36576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82028"/>
                </a:solidFill>
                <a:latin typeface="Calibri"/>
              </a:rPr>
              <a:t>6 Examine limits and scaling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212080"/>
            <a:ext cx="11338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A5560"/>
                </a:solidFill>
                <a:latin typeface="Calibri"/>
              </a:rPr>
              <a:t>No numbered research questions in Chapter 1 — Aim + Objectives 1–6 only.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37960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0"/>
                </a:solidFill>
                <a:latin typeface="Calibri"/>
              </a:rPr>
              <a:t>AI-assisted decision journaling  ·  Ch1 §1.3 exact aim (no numbered RQs)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6537960"/>
            <a:ext cx="2103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4A5560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182028"/>
                </a:solidFill>
                <a:latin typeface="Calibri"/>
              </a:rPr>
              <a:t>Generation, checks, human review and source stay separate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4A5560"/>
                </a:solidFill>
                <a:latin typeface="Calibri"/>
              </a:rPr>
              <a:t>Later stages do not retrospectively turn machine-generated text into authoritative evidence.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1417320" cy="2103120"/>
          </a:xfrm>
          <a:prstGeom prst="roundRect">
            <a:avLst>
              <a:gd name="adj" fmla="val 8000"/>
            </a:avLst>
          </a:prstGeom>
          <a:solidFill>
            <a:srgbClr val="EEEAF4"/>
          </a:solidFill>
          <a:ln>
            <a:solidFill>
              <a:srgbClr val="3D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3D3550"/>
                </a:solidFill>
                <a:latin typeface="Calibri"/>
              </a:rPr>
              <a:t>Public inquiry source</a:t>
            </a:r>
          </a:p>
          <a:p>
            <a:pPr algn="ctr"/>
            <a:r>
              <a:rPr sz="1100" b="0">
                <a:solidFill>
                  <a:srgbClr val="4A5560"/>
                </a:solidFill>
                <a:latin typeface="Calibri"/>
              </a:rPr>
              <a:t>authoritative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2651760"/>
            <a:ext cx="228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4A5560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38528" y="1828800"/>
            <a:ext cx="1417320" cy="2103120"/>
          </a:xfrm>
          <a:prstGeom prst="roundRect">
            <a:avLst>
              <a:gd name="adj" fmla="val 8000"/>
            </a:avLst>
          </a:prstGeom>
          <a:solidFill>
            <a:srgbClr val="E6F3EF"/>
          </a:solidFill>
          <a:ln>
            <a:solidFill>
              <a:srgbClr val="0F5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F5C4C"/>
                </a:solidFill>
                <a:latin typeface="Calibri"/>
              </a:rPr>
              <a:t>Source processing</a:t>
            </a:r>
          </a:p>
          <a:p>
            <a:pPr algn="ctr"/>
            <a:r>
              <a:rPr sz="1100" b="0">
                <a:solidFill>
                  <a:srgbClr val="4A5560"/>
                </a:solidFill>
                <a:latin typeface="Calibri"/>
              </a:rPr>
              <a:t>processing / automated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10128" y="2651760"/>
            <a:ext cx="228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4A5560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828800"/>
            <a:ext cx="1417320" cy="2103120"/>
          </a:xfrm>
          <a:prstGeom prst="roundRect">
            <a:avLst>
              <a:gd name="adj" fmla="val 8000"/>
            </a:avLst>
          </a:prstGeom>
          <a:solidFill>
            <a:srgbClr val="E8EEF6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LLM candidate generation</a:t>
            </a:r>
          </a:p>
          <a:p>
            <a:pPr algn="ctr"/>
            <a:r>
              <a:rPr sz="1100" b="0">
                <a:solidFill>
                  <a:srgbClr val="4A5560"/>
                </a:solidFill>
                <a:latin typeface="Calibri"/>
              </a:rPr>
              <a:t>machine generation / freeze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37176" y="2651760"/>
            <a:ext cx="228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4A556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92624" y="1828800"/>
            <a:ext cx="1417320" cy="2103120"/>
          </a:xfrm>
          <a:prstGeom prst="roundRect">
            <a:avLst>
              <a:gd name="adj" fmla="val 8000"/>
            </a:avLst>
          </a:prstGeom>
          <a:solidFill>
            <a:srgbClr val="E6F3EF"/>
          </a:solidFill>
          <a:ln>
            <a:solidFill>
              <a:srgbClr val="0F5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F5C4C"/>
                </a:solidFill>
                <a:latin typeface="Calibri"/>
              </a:rPr>
              <a:t>Automated traceability</a:t>
            </a:r>
          </a:p>
          <a:p>
            <a:pPr algn="ctr"/>
            <a:r>
              <a:rPr sz="1100" b="0">
                <a:solidFill>
                  <a:srgbClr val="4A5560"/>
                </a:solidFill>
                <a:latin typeface="Calibri"/>
              </a:rPr>
              <a:t>processing / automated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2651760"/>
            <a:ext cx="228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4A5560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9672" y="1828800"/>
            <a:ext cx="1417320" cy="2103120"/>
          </a:xfrm>
          <a:prstGeom prst="roundRect">
            <a:avLst>
              <a:gd name="adj" fmla="val 8000"/>
            </a:avLst>
          </a:prstGeom>
          <a:solidFill>
            <a:srgbClr val="E8EEF6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Frozen reference dataset</a:t>
            </a:r>
          </a:p>
          <a:p>
            <a:pPr algn="ctr"/>
            <a:r>
              <a:rPr sz="1100" b="0">
                <a:solidFill>
                  <a:srgbClr val="4A5560"/>
                </a:solidFill>
                <a:latin typeface="Calibri"/>
              </a:rPr>
              <a:t>machine generation / freeze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1272" y="2651760"/>
            <a:ext cx="228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4A5560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1417320" cy="2103120"/>
          </a:xfrm>
          <a:prstGeom prst="roundRect">
            <a:avLst>
              <a:gd name="adj" fmla="val 8000"/>
            </a:avLst>
          </a:prstGeom>
          <a:solidFill>
            <a:srgbClr val="E4EEF4"/>
          </a:solidFill>
          <a:ln>
            <a:solidFill>
              <a:srgbClr val="1A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4D6D"/>
                </a:solidFill>
                <a:latin typeface="Calibri"/>
              </a:rPr>
              <a:t>Human review</a:t>
            </a:r>
          </a:p>
          <a:p>
            <a:pPr algn="ctr"/>
            <a:r>
              <a:rPr sz="1100" b="0">
                <a:solidFill>
                  <a:srgbClr val="4A5560"/>
                </a:solidFill>
                <a:latin typeface="Calibri"/>
              </a:rPr>
              <a:t>human judgement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651760"/>
            <a:ext cx="228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4A5560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3768" y="1828800"/>
            <a:ext cx="1417320" cy="2103120"/>
          </a:xfrm>
          <a:prstGeom prst="roundRect">
            <a:avLst>
              <a:gd name="adj" fmla="val 8000"/>
            </a:avLst>
          </a:prstGeom>
          <a:solidFill>
            <a:srgbClr val="E4EEF4"/>
          </a:solidFill>
          <a:ln>
            <a:solidFill>
              <a:srgbClr val="1A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4D6D"/>
                </a:solidFill>
                <a:latin typeface="Calibri"/>
              </a:rPr>
              <a:t>Framework interpretation</a:t>
            </a:r>
          </a:p>
          <a:p>
            <a:pPr algn="ctr"/>
            <a:r>
              <a:rPr sz="1100" b="0">
                <a:solidFill>
                  <a:srgbClr val="4A5560"/>
                </a:solidFill>
                <a:latin typeface="Calibri"/>
              </a:rPr>
              <a:t>human judgement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297680"/>
            <a:ext cx="113385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82028"/>
                </a:solidFill>
                <a:latin typeface="Calibri"/>
              </a:rPr>
              <a:t>Machine generation does not become authoritative because later checks exist.
Research prototype — not production deployment.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5577840"/>
            <a:ext cx="2468880" cy="365760"/>
          </a:xfrm>
          <a:prstGeom prst="roundRect">
            <a:avLst>
              <a:gd name="adj" fmla="val 8000"/>
            </a:avLst>
          </a:prstGeom>
          <a:solidFill>
            <a:srgbClr val="EEEAF4"/>
          </a:solidFill>
          <a:ln>
            <a:solidFill>
              <a:srgbClr val="EE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D3550"/>
                </a:solidFill>
                <a:latin typeface="Calibri"/>
              </a:rPr>
              <a:t>Source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5577840"/>
            <a:ext cx="2468880" cy="365760"/>
          </a:xfrm>
          <a:prstGeom prst="roundRect">
            <a:avLst>
              <a:gd name="adj" fmla="val 8000"/>
            </a:avLst>
          </a:prstGeom>
          <a:solidFill>
            <a:srgbClr val="E8EEF6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4E79"/>
                </a:solidFill>
                <a:latin typeface="Calibri"/>
              </a:rPr>
              <a:t>Machine / frozen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0" y="5577840"/>
            <a:ext cx="2468880" cy="365760"/>
          </a:xfrm>
          <a:prstGeom prst="roundRect">
            <a:avLst>
              <a:gd name="adj" fmla="val 8000"/>
            </a:avLst>
          </a:prstGeom>
          <a:solidFill>
            <a:srgbClr val="E6F3EF"/>
          </a:solidFill>
          <a:ln>
            <a:solidFill>
              <a:srgbClr val="E6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5C4C"/>
                </a:solidFill>
                <a:latin typeface="Calibri"/>
              </a:rPr>
              <a:t>Automated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5577840"/>
            <a:ext cx="2468880" cy="365760"/>
          </a:xfrm>
          <a:prstGeom prst="roundRect">
            <a:avLst>
              <a:gd name="adj" fmla="val 8000"/>
            </a:avLst>
          </a:prstGeom>
          <a:solidFill>
            <a:srgbClr val="E4EEF4"/>
          </a:solidFill>
          <a:ln>
            <a:solidFill>
              <a:srgbClr val="E4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4D6D"/>
                </a:solidFill>
                <a:latin typeface="Calibri"/>
              </a:rPr>
              <a:t>Human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537960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0"/>
                </a:solidFill>
                <a:latin typeface="Calibri"/>
              </a:rPr>
              <a:t>AI-assisted decision journaling  ·  Ch3 methods · Wave 4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6537960"/>
            <a:ext cx="2103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4A5560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182028"/>
                </a:solidFill>
                <a:latin typeface="Calibri"/>
              </a:rPr>
              <a:t>Traceable candidates are common; journal-ready ones are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4A5560"/>
                </a:solidFill>
                <a:latin typeface="Calibri"/>
              </a:rPr>
              <a:t>Layered evaluation — no single F1. Pass rates ≠ acceptance. no × high and moderate κ matter more than volume.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3657600" cy="4297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383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Scale &amp; traceability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57400"/>
            <a:ext cx="3291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82028"/>
                </a:solidFill>
                <a:latin typeface="Calibri"/>
              </a:rPr>
              <a:t>414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A5560"/>
                </a:solidFill>
                <a:latin typeface="Calibri"/>
              </a:rPr>
              <a:t>candidates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3291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82028"/>
                </a:solidFill>
                <a:latin typeface="Calibri"/>
              </a:rPr>
              <a:t>351/414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6616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A5560"/>
                </a:solidFill>
                <a:latin typeface="Calibri"/>
              </a:rPr>
              <a:t>traceability 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160520"/>
            <a:ext cx="3291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82028"/>
                </a:solidFill>
                <a:latin typeface="Calibri"/>
              </a:rPr>
              <a:t>1/6 vs 5/6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61772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A5560"/>
                </a:solidFill>
                <a:latin typeface="Calibri"/>
              </a:rPr>
              <a:t>keyword vs LLM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417320"/>
            <a:ext cx="3657600" cy="4297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554480"/>
            <a:ext cx="3383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Validity ≠ evidence strength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057400"/>
            <a:ext cx="3291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82028"/>
                </a:solidFill>
                <a:latin typeface="Calibri"/>
              </a:rPr>
              <a:t>21/50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51460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A5560"/>
                </a:solidFill>
                <a:latin typeface="Calibri"/>
              </a:rPr>
              <a:t>no × 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108960"/>
            <a:ext cx="3291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82028"/>
                </a:solidFill>
                <a:latin typeface="Calibri"/>
              </a:rPr>
              <a:t>0.48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56616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A5560"/>
                </a:solidFill>
                <a:latin typeface="Calibri"/>
              </a:rPr>
              <a:t>rule κ vs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160520"/>
            <a:ext cx="3291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82028"/>
                </a:solidFill>
                <a:latin typeface="Calibri"/>
              </a:rPr>
              <a:t>0.39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61772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A5560"/>
                </a:solidFill>
                <a:latin typeface="Calibri"/>
              </a:rPr>
              <a:t>LLM κ vs 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1417320"/>
            <a:ext cx="3657600" cy="4297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554480"/>
            <a:ext cx="3383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Framework &amp; faithfulness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057400"/>
            <a:ext cx="3291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82028"/>
                </a:solidFill>
                <a:latin typeface="Calibri"/>
              </a:rPr>
              <a:t>11/60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51460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A5560"/>
                </a:solidFill>
                <a:latin typeface="Calibri"/>
              </a:rPr>
              <a:t>JEE mapped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108960"/>
            <a:ext cx="3291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82028"/>
                </a:solidFill>
                <a:latin typeface="Calibri"/>
              </a:rPr>
              <a:t>37/60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56616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A5560"/>
                </a:solidFill>
                <a:latin typeface="Calibri"/>
              </a:rPr>
              <a:t>DQ mapped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160520"/>
            <a:ext cx="3291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82028"/>
                </a:solidFill>
                <a:latin typeface="Calibri"/>
              </a:rPr>
              <a:t>8/25/20/7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61772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A5560"/>
                </a:solidFill>
                <a:latin typeface="Calibri"/>
              </a:rPr>
              <a:t>faithfulness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5897880"/>
            <a:ext cx="11338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0"/>
                </a:solidFill>
                <a:latin typeface="Calibri"/>
              </a:rPr>
              <a:t>Candidates are not accepted decisions.  ·  Supporting: 5/10/0 triangulation · 20 clusters · 50/53 · 49/50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37960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0"/>
                </a:solidFill>
                <a:latin typeface="Calibri"/>
              </a:rPr>
              <a:t>AI-assisted decision journaling  ·  Frozen journal · n=50 · Audit E n=60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6537960"/>
            <a:ext cx="2103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4A5560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182028"/>
                </a:solidFill>
                <a:latin typeface="Calibri"/>
              </a:rPr>
              <a:t>Quote support ≠ journal membership (phase1-082)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5532120" cy="2286000"/>
          </a:xfrm>
          <a:prstGeom prst="rect">
            <a:avLst/>
          </a:prstGeom>
          <a:solidFill>
            <a:srgbClr val="EEEAF4"/>
          </a:solidFill>
          <a:ln w="15875">
            <a:solidFill>
              <a:srgbClr val="3D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5120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3D3550"/>
                </a:solidFill>
                <a:latin typeface="Calibri"/>
              </a:rPr>
              <a:t>SOURCE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512064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82028"/>
                </a:solidFill>
                <a:latin typeface="Calibri"/>
              </a:rPr>
              <a:t>The hearing adjourned until 10 am on Friday, 1 December 2023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051560"/>
            <a:ext cx="5486400" cy="2286000"/>
          </a:xfrm>
          <a:prstGeom prst="rect">
            <a:avLst/>
          </a:prstGeom>
          <a:solidFill>
            <a:srgbClr val="E8EEF6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143000"/>
            <a:ext cx="5120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FROZEN LLM CANDIDATE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512064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82028"/>
                </a:solidFill>
                <a:latin typeface="Calibri"/>
              </a:rPr>
              <a:t>The hearing will resume at 10 o'clock tomorrow.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566160"/>
            <a:ext cx="3657600" cy="640080"/>
          </a:xfrm>
          <a:prstGeom prst="roundRect">
            <a:avLst>
              <a:gd name="adj" fmla="val 8000"/>
            </a:avLst>
          </a:prstGeom>
          <a:solidFill>
            <a:srgbClr val="E6F3EF"/>
          </a:solidFill>
          <a:ln>
            <a:solidFill>
              <a:srgbClr val="E6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5C4C"/>
                </a:solidFill>
                <a:latin typeface="Calibri"/>
              </a:rPr>
              <a:t>Traceability: PASS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566160"/>
            <a:ext cx="3657600" cy="640080"/>
          </a:xfrm>
          <a:prstGeom prst="roundRect">
            <a:avLst>
              <a:gd name="adj" fmla="val 8000"/>
            </a:avLst>
          </a:prstGeom>
          <a:solidFill>
            <a:srgbClr val="E8EEF6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4E79"/>
                </a:solidFill>
                <a:latin typeface="Calibri"/>
              </a:rPr>
              <a:t>Rubric B = HIGH  (supported wording)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3566160"/>
            <a:ext cx="3566160" cy="640080"/>
          </a:xfrm>
          <a:prstGeom prst="roundRect">
            <a:avLst>
              <a:gd name="adj" fmla="val 8000"/>
            </a:avLst>
          </a:prstGeom>
          <a:solidFill>
            <a:srgbClr val="F8E8E8"/>
          </a:solidFill>
          <a:ln>
            <a:solidFill>
              <a:srgbClr val="F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7A1F1F"/>
                </a:solidFill>
                <a:latin typeface="Calibri"/>
              </a:rPr>
              <a:t>Rubric A = NO  (not journal-valid)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434840"/>
            <a:ext cx="11338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A5560"/>
                </a:solidFill>
                <a:latin typeface="Calibri"/>
              </a:rPr>
              <a:t>Flag: procedural hearing administration  ·  ID phase1-082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937760"/>
            <a:ext cx="11338560" cy="1051560"/>
          </a:xfrm>
          <a:prstGeom prst="rect">
            <a:avLst/>
          </a:prstGeom>
          <a:solidFill>
            <a:srgbClr val="FFF6D8"/>
          </a:solidFill>
          <a:ln w="15875">
            <a:solidFill>
              <a:srgbClr val="5A4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074920"/>
            <a:ext cx="108813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5A4710"/>
                </a:solidFill>
                <a:latin typeface="Calibri"/>
              </a:rPr>
              <a:t>Quotation support does not by itself establish decision-journal validity.
Supported wording  ≠  valid journal entry.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37960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0"/>
                </a:solidFill>
                <a:latin typeface="Calibri"/>
              </a:rPr>
              <a:t>AI-assisted decision journaling  ·  Case phase1-082 · n=50 theme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6537960"/>
            <a:ext cx="2103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4A5560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182028"/>
                </a:solidFill>
                <a:latin typeface="Calibri"/>
              </a:rPr>
              <a:t>Contribution is governance of the AI–source–human 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4A5560"/>
                </a:solidFill>
                <a:latin typeface="Calibri"/>
              </a:rPr>
              <a:t>Not a new SOTA extraction algorithm — a governed review process.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5440680" cy="2011680"/>
          </a:xfrm>
          <a:prstGeom prst="rect">
            <a:avLst/>
          </a:prstGeom>
          <a:solidFill>
            <a:srgbClr val="E8EEF6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Methodological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493776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82028"/>
                </a:solidFill>
                <a:latin typeface="Calibri"/>
              </a:rPr>
              <a:t>Link candidates to sources; separate validity, strength and faithfulness.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371600"/>
            <a:ext cx="5440680" cy="2011680"/>
          </a:xfrm>
          <a:prstGeom prst="rect">
            <a:avLst/>
          </a:prstGeom>
          <a:solidFill>
            <a:srgbClr val="E6F3EF"/>
          </a:solidFill>
          <a:ln w="15875">
            <a:solidFill>
              <a:srgbClr val="0F5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F5C4C"/>
                </a:solidFill>
                <a:latin typeface="Calibri"/>
              </a:rPr>
              <a:t>Artefact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93776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82028"/>
                </a:solidFill>
                <a:latin typeface="Calibri"/>
              </a:rPr>
              <a:t>Fixed 414-entry journal plus offline examiner demonstration.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657600"/>
            <a:ext cx="5440680" cy="2011680"/>
          </a:xfrm>
          <a:prstGeom prst="rect">
            <a:avLst/>
          </a:prstGeom>
          <a:solidFill>
            <a:srgbClr val="E4EEF4"/>
          </a:solidFill>
          <a:ln w="15875">
            <a:solidFill>
              <a:srgbClr val="1A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4D6D"/>
                </a:solidFill>
                <a:latin typeface="Calibri"/>
              </a:rPr>
              <a:t>Empirical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493776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82028"/>
                </a:solidFill>
                <a:latin typeface="Calibri"/>
              </a:rPr>
              <a:t>Bounded n=414 / n=50 / n=60 feasibility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657600"/>
            <a:ext cx="5440680" cy="2011680"/>
          </a:xfrm>
          <a:prstGeom prst="rect">
            <a:avLst/>
          </a:prstGeom>
          <a:solidFill>
            <a:srgbClr val="EEEAF4"/>
          </a:solidFill>
          <a:ln w="15875">
            <a:solidFill>
              <a:srgbClr val="3D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8620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3D3550"/>
                </a:solidFill>
                <a:latin typeface="Calibri"/>
              </a:rPr>
              <a:t>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389120"/>
            <a:ext cx="493776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82028"/>
                </a:solidFill>
                <a:latin typeface="Calibri"/>
              </a:rPr>
              <a:t>Keep machine, automated, human and source layers inspectable.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37960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0"/>
                </a:solidFill>
                <a:latin typeface="Calibri"/>
              </a:rPr>
              <a:t>AI-assisted decision journaling  ·  Ch1 §1.6 · Ch5 contribution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537960"/>
            <a:ext cx="2103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4A5560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182028"/>
                </a:solidFill>
                <a:latin typeface="Calibri"/>
              </a:rPr>
              <a:t>Make the route from source to interpretation inspectable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11338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A5560"/>
                </a:solidFill>
                <a:latin typeface="Calibri"/>
              </a:rPr>
              <a:t>Limits carried forward: One inquiry · one model · single reviewer · Frozen outputs · moderate κ · interpretive mappings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828800"/>
            <a:ext cx="11338560" cy="2377440"/>
          </a:xfrm>
          <a:prstGeom prst="rect">
            <a:avLst/>
          </a:prstGeom>
          <a:solidFill>
            <a:srgbClr val="EEEAF4"/>
          </a:solidFill>
          <a:ln w="15875">
            <a:solidFill>
              <a:srgbClr val="3D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1088136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82028"/>
                </a:solidFill>
                <a:latin typeface="Calibri"/>
              </a:rPr>
              <a:t>The system does not replace authoritative inquiry evidence or human policy judgement. It makes the route from source evidence to machine-generated candidate and human interpretation inspectable and auditable.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572000"/>
            <a:ext cx="113385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4A5560"/>
                </a:solidFill>
                <a:latin typeface="Calibri"/>
              </a:rPr>
              <a:t>Questions
Presentation complete without live demo · optional offline walkthrough ≤2 min after the centrepiece only if time remains.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37960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0"/>
                </a:solidFill>
                <a:latin typeface="Calibri"/>
              </a:rPr>
              <a:t>AI-assisted decision journaling  ·  Closing · ready for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37960"/>
            <a:ext cx="2103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4A5560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